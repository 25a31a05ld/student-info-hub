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FB9983B-3809-4CD1-86F2-33B0D6543833}" v="403" dt="2026-05-10T02:08:55.72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p:cNvSpPr>
            <a:spLocks noGrp="1"/>
          </p:cNvSpPr>
          <p:nvPr>
            <p:ph type="dt" sz="half" idx="10"/>
          </p:nvPr>
        </p:nvSpPr>
        <p:spPr/>
        <p:txBody>
          <a:bodyPr/>
          <a:lstStyle/>
          <a:p>
            <a:fld id="{C764DE79-268F-4C1A-8933-263129D2AF90}" type="datetimeFigureOut">
              <a:rPr lang="en-US" dirty="0"/>
              <a:t>5/9/2026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5867553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C764DE79-268F-4C1A-8933-263129D2AF90}" type="datetimeFigureOut">
              <a:rPr lang="en-US" dirty="0"/>
              <a:t>5/9/2026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7805673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shade val="82000"/>
                  </a:schemeClr>
                </a:solidFill>
              </a:defRPr>
            </a:lvl1pPr>
            <a:lvl2pPr marL="457200" indent="0">
              <a:buNone/>
              <a:defRPr sz="2000">
                <a:solidFill>
                  <a:schemeClr val="tx1">
                    <a:shade val="82000"/>
                  </a:schemeClr>
                </a:solidFill>
              </a:defRPr>
            </a:lvl2pPr>
            <a:lvl3pPr marL="914400" indent="0">
              <a:buNone/>
              <a:defRPr sz="1800">
                <a:solidFill>
                  <a:schemeClr val="tx1">
                    <a:shade val="82000"/>
                  </a:schemeClr>
                </a:solidFill>
              </a:defRPr>
            </a:lvl3pPr>
            <a:lvl4pPr marL="1371600" indent="0">
              <a:buNone/>
              <a:defRPr sz="1600">
                <a:solidFill>
                  <a:schemeClr val="tx1">
                    <a:shade val="82000"/>
                  </a:schemeClr>
                </a:solidFill>
              </a:defRPr>
            </a:lvl4pPr>
            <a:lvl5pPr marL="1828800" indent="0">
              <a:buNone/>
              <a:defRPr sz="1600">
                <a:solidFill>
                  <a:schemeClr val="tx1">
                    <a:shade val="82000"/>
                  </a:schemeClr>
                </a:solidFill>
              </a:defRPr>
            </a:lvl5pPr>
            <a:lvl6pPr marL="2286000" indent="0">
              <a:buNone/>
              <a:defRPr sz="1600">
                <a:solidFill>
                  <a:schemeClr val="tx1">
                    <a:shade val="82000"/>
                  </a:schemeClr>
                </a:solidFill>
              </a:defRPr>
            </a:lvl6pPr>
            <a:lvl7pPr marL="2743200" indent="0">
              <a:buNone/>
              <a:defRPr sz="1600">
                <a:solidFill>
                  <a:schemeClr val="tx1">
                    <a:shade val="82000"/>
                  </a:schemeClr>
                </a:solidFill>
              </a:defRPr>
            </a:lvl7pPr>
            <a:lvl8pPr marL="3200400" indent="0">
              <a:buNone/>
              <a:defRPr sz="1600">
                <a:solidFill>
                  <a:schemeClr val="tx1">
                    <a:shade val="82000"/>
                  </a:schemeClr>
                </a:solidFill>
              </a:defRPr>
            </a:lvl8pPr>
            <a:lvl9pPr marL="3657600" indent="0">
              <a:buNone/>
              <a:defRPr sz="1600">
                <a:solidFill>
                  <a:schemeClr val="tx1">
                    <a:shade val="82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5/9/2026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9682285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C764DE79-268F-4C1A-8933-263129D2AF90}" type="datetimeFigureOut">
              <a:rPr lang="en-US" dirty="0"/>
              <a:t>5/9/2026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4835762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dirty="0"/>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C764DE79-268F-4C1A-8933-263129D2AF90}" type="datetimeFigureOut">
              <a:rPr lang="en-US" dirty="0"/>
              <a:t>5/9/2026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3864917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C764DE79-268F-4C1A-8933-263129D2AF90}" type="datetimeFigureOut">
              <a:rPr lang="en-US" dirty="0"/>
              <a:t>5/9/2026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9717459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5/9/2026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9115506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5/9/2026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9237470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5/9/2026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337901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C764DE79-268F-4C1A-8933-263129D2AF90}" type="datetimeFigureOut">
              <a:rPr lang="en-US" dirty="0"/>
              <a:t>5/9/2026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9299155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dirty="0"/>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C764DE79-268F-4C1A-8933-263129D2AF90}" type="datetimeFigureOut">
              <a:rPr lang="en-US" dirty="0"/>
              <a:t>5/9/2026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5950451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shade val="82000"/>
                  </a:schemeClr>
                </a:solidFill>
              </a:defRPr>
            </a:lvl1pPr>
          </a:lstStyle>
          <a:p>
            <a:fld id="{C764DE79-268F-4C1A-8933-263129D2AF90}" type="datetimeFigureOut">
              <a:rPr lang="en-US" dirty="0"/>
              <a:t>5/9/2026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shade val="82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shade val="82000"/>
                  </a:schemeClr>
                </a:solidFill>
              </a:defRPr>
            </a:lvl1pPr>
          </a:lstStyle>
          <a:p>
            <a:fld id="{48F63A3B-78C7-47BE-AE5E-E10140E04643}" type="slidenum">
              <a:rPr lang="en-US" dirty="0"/>
              <a:t>‹#›</a:t>
            </a:fld>
            <a:endParaRPr lang="en-US" dirty="0"/>
          </a:p>
        </p:txBody>
      </p:sp>
    </p:spTree>
    <p:extLst>
      <p:ext uri="{BB962C8B-B14F-4D97-AF65-F5344CB8AC3E}">
        <p14:creationId xmlns:p14="http://schemas.microsoft.com/office/powerpoint/2010/main" val="19751135"/>
      </p:ext>
    </p:extLst>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08113"/>
            <a:ext cx="9144000" cy="2387600"/>
          </a:xfrm>
        </p:spPr>
        <p:txBody>
          <a:bodyPr/>
          <a:lstStyle/>
          <a:p>
            <a:r>
              <a:rPr lang="en-US"/>
              <a:t>STUDENT_INFO-HUB</a:t>
            </a:r>
          </a:p>
        </p:txBody>
      </p:sp>
      <p:sp>
        <p:nvSpPr>
          <p:cNvPr id="3" name="Subtitle 2"/>
          <p:cNvSpPr>
            <a:spLocks noGrp="1"/>
          </p:cNvSpPr>
          <p:nvPr>
            <p:ph type="subTitle" idx="1"/>
          </p:nvPr>
        </p:nvSpPr>
        <p:spPr>
          <a:xfrm>
            <a:off x="2068286" y="3106133"/>
            <a:ext cx="9845523" cy="2417761"/>
          </a:xfrm>
        </p:spPr>
        <p:txBody>
          <a:bodyPr vert="horz" lIns="91440" tIns="45720" rIns="91440" bIns="45720" rtlCol="0" anchor="t">
            <a:normAutofit/>
          </a:bodyPr>
          <a:lstStyle/>
          <a:p>
            <a:r>
              <a:rPr lang="en-US"/>
              <a:t>TEAM  :                       </a:t>
            </a:r>
          </a:p>
          <a:p>
            <a:r>
              <a:rPr lang="en-US"/>
              <a:t>                                        1) SOPHIYA</a:t>
            </a:r>
          </a:p>
          <a:p>
            <a:r>
              <a:rPr lang="en-US"/>
              <a:t>                                                  2)  ROOF SAGAR</a:t>
            </a:r>
          </a:p>
          <a:p>
            <a:r>
              <a:rPr lang="en-US"/>
              <a:t>                                     3) SWAMY</a:t>
            </a:r>
          </a:p>
          <a:p>
            <a:r>
              <a:rPr lang="en-US"/>
              <a:t>                                                            4)HARSHA VARDHAN</a:t>
            </a:r>
            <a:endParaRPr lang="en-US" dirty="0"/>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82BD76-2FCD-542B-5D2F-CF2DC83CC9DF}"/>
              </a:ext>
            </a:extLst>
          </p:cNvPr>
          <p:cNvSpPr>
            <a:spLocks noGrp="1"/>
          </p:cNvSpPr>
          <p:nvPr>
            <p:ph type="title"/>
          </p:nvPr>
        </p:nvSpPr>
        <p:spPr>
          <a:xfrm>
            <a:off x="838200" y="50649"/>
            <a:ext cx="10515600" cy="1325563"/>
          </a:xfrm>
        </p:spPr>
        <p:txBody>
          <a:bodyPr/>
          <a:lstStyle/>
          <a:p>
            <a:r>
              <a:rPr lang="en-US">
                <a:solidFill>
                  <a:srgbClr val="FFFF00"/>
                </a:solidFill>
              </a:rPr>
              <a:t>ABSTRACT</a:t>
            </a:r>
          </a:p>
        </p:txBody>
      </p:sp>
      <p:sp>
        <p:nvSpPr>
          <p:cNvPr id="3" name="Content Placeholder 2">
            <a:extLst>
              <a:ext uri="{FF2B5EF4-FFF2-40B4-BE49-F238E27FC236}">
                <a16:creationId xmlns:a16="http://schemas.microsoft.com/office/drawing/2014/main" id="{59562204-7D0F-75EE-D5AF-91BE6C6351C4}"/>
              </a:ext>
            </a:extLst>
          </p:cNvPr>
          <p:cNvSpPr>
            <a:spLocks noGrp="1"/>
          </p:cNvSpPr>
          <p:nvPr>
            <p:ph idx="1"/>
          </p:nvPr>
        </p:nvSpPr>
        <p:spPr>
          <a:xfrm>
            <a:off x="838200" y="1208771"/>
            <a:ext cx="10515600" cy="5403619"/>
          </a:xfrm>
          <a:ln>
            <a:solidFill>
              <a:srgbClr val="00B0F0"/>
            </a:solidFill>
          </a:ln>
        </p:spPr>
        <p:txBody>
          <a:bodyPr vert="horz" lIns="91440" tIns="45720" rIns="91440" bIns="45720" rtlCol="0" anchor="t">
            <a:normAutofit fontScale="85000" lnSpcReduction="20000"/>
          </a:bodyPr>
          <a:lstStyle/>
          <a:p>
            <a:r>
              <a:rPr lang="en-US" dirty="0">
                <a:ea typeface="+mn-lt"/>
                <a:cs typeface="+mn-lt"/>
              </a:rPr>
              <a:t>STUDENT_INFO-HUB is a student management system developed to maintain and organize student records efficiently. The project provides a secure login system with a maximum of three authentication attempts using predefined ID and password verification(Only admin can access). After successful login, the system displays a menu-driven interface that allows the user to perform various operations such as viewing student records, adding new student details, deleting existing records, and exiting the program.</a:t>
            </a:r>
            <a:endParaRPr lang="en-US" dirty="0"/>
          </a:p>
          <a:p>
            <a:r>
              <a:rPr lang="en-US" dirty="0">
                <a:ea typeface="+mn-lt"/>
                <a:cs typeface="+mn-lt"/>
              </a:rPr>
              <a:t>The application uses file handling concepts to store and manage student data based on student year, branch, and section. Separate functions are created for each operation and are called using a switch-case structure for better modularity and readability. The view option enables searching student details through branch, section and year inputs also displays the required record, while the add option creates and stores student information in appropriate files. The delete option searches records using student ID and removes the selected data.</a:t>
            </a:r>
            <a:endParaRPr lang="en-US" dirty="0"/>
          </a:p>
          <a:p>
            <a:r>
              <a:rPr lang="en-US">
                <a:ea typeface="+mn-lt"/>
                <a:cs typeface="+mn-lt"/>
              </a:rPr>
              <a:t>This project helps in simplifying student data management, reducing manual effort, improving accuracy, and providing organized access to student information through a user-friendly interface.</a:t>
            </a:r>
            <a:endParaRPr lang="en-US"/>
          </a:p>
        </p:txBody>
      </p:sp>
    </p:spTree>
    <p:extLst>
      <p:ext uri="{BB962C8B-B14F-4D97-AF65-F5344CB8AC3E}">
        <p14:creationId xmlns:p14="http://schemas.microsoft.com/office/powerpoint/2010/main" val="21377045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395ACA-9BD8-0E7E-D036-98AD57E4FAFB}"/>
              </a:ext>
            </a:extLst>
          </p:cNvPr>
          <p:cNvSpPr>
            <a:spLocks noGrp="1"/>
          </p:cNvSpPr>
          <p:nvPr>
            <p:ph type="title"/>
          </p:nvPr>
        </p:nvSpPr>
        <p:spPr/>
        <p:txBody>
          <a:bodyPr/>
          <a:lstStyle/>
          <a:p>
            <a:r>
              <a:rPr lang="en-US">
                <a:solidFill>
                  <a:srgbClr val="FFFF00"/>
                </a:solidFill>
              </a:rPr>
              <a:t>INTRO</a:t>
            </a:r>
            <a:br>
              <a:rPr lang="en-US" dirty="0"/>
            </a:br>
            <a:endParaRPr lang="en-US" dirty="0"/>
          </a:p>
        </p:txBody>
      </p:sp>
      <p:sp>
        <p:nvSpPr>
          <p:cNvPr id="3" name="Content Placeholder 2">
            <a:extLst>
              <a:ext uri="{FF2B5EF4-FFF2-40B4-BE49-F238E27FC236}">
                <a16:creationId xmlns:a16="http://schemas.microsoft.com/office/drawing/2014/main" id="{576BEB37-2570-A8DC-BCC2-9D28C18B8180}"/>
              </a:ext>
            </a:extLst>
          </p:cNvPr>
          <p:cNvSpPr>
            <a:spLocks noGrp="1"/>
          </p:cNvSpPr>
          <p:nvPr>
            <p:ph idx="1"/>
          </p:nvPr>
        </p:nvSpPr>
        <p:spPr>
          <a:xfrm>
            <a:off x="838200" y="1281340"/>
            <a:ext cx="10515600" cy="4690004"/>
          </a:xfrm>
          <a:ln>
            <a:solidFill>
              <a:srgbClr val="00B050"/>
            </a:solidFill>
          </a:ln>
        </p:spPr>
        <p:txBody>
          <a:bodyPr vert="horz" lIns="91440" tIns="45720" rIns="91440" bIns="45720" rtlCol="0" anchor="t">
            <a:normAutofit fontScale="70000" lnSpcReduction="20000"/>
          </a:bodyPr>
          <a:lstStyle/>
          <a:p>
            <a:r>
              <a:rPr lang="en-US">
                <a:ea typeface="+mn-lt"/>
                <a:cs typeface="+mn-lt"/>
              </a:rPr>
              <a:t>The rapid growth of educational institutions has increased the need for efficient student record management systems. Maintaining student information manually is time-consuming, difficult to organize, and prone to errors. To overcome these problems, the STUDENT_INFO-HUB project is developed as a simple and effective student management system that helps in storing, accessing, updating, and managing student records digitally.(Some systems already exists)</a:t>
            </a:r>
            <a:endParaRPr lang="en-US"/>
          </a:p>
          <a:p>
            <a:r>
              <a:rPr lang="en-US" dirty="0">
                <a:ea typeface="+mn-lt"/>
                <a:cs typeface="+mn-lt"/>
              </a:rPr>
              <a:t>The system is designed using programming concepts such as file handling, functions, conditional statements, loops, and switch-case operations. It provides a secure login mechanism where only authorized users can access the system with valid credentials. The login process also limits invalid attempts to ensure basic security.</a:t>
            </a:r>
            <a:endParaRPr lang="en-US" dirty="0"/>
          </a:p>
          <a:p>
            <a:r>
              <a:rPr lang="en-US" dirty="0">
                <a:ea typeface="+mn-lt"/>
                <a:cs typeface="+mn-lt"/>
              </a:rPr>
              <a:t>After successful login, the user can perform different operations including viewing student records, adding new student details, deleting existing records, and exiting the application. Student information is stored in files according to year, branch, and section, which improves organization and simplifies data retrieval.</a:t>
            </a:r>
            <a:endParaRPr lang="en-US" dirty="0"/>
          </a:p>
          <a:p>
            <a:r>
              <a:rPr lang="en-US" dirty="0">
                <a:ea typeface="+mn-lt"/>
                <a:cs typeface="+mn-lt"/>
              </a:rPr>
              <a:t>The main objective of this project is to reduce manual work, improve accuracy, save time, and provide a user-friendly way to manage student information efficiently. The project also demonstrates the practical implementation of file management and modular programming concepts in a real-world application.</a:t>
            </a:r>
            <a:endParaRPr lang="en-US" dirty="0"/>
          </a:p>
        </p:txBody>
      </p:sp>
    </p:spTree>
    <p:extLst>
      <p:ext uri="{BB962C8B-B14F-4D97-AF65-F5344CB8AC3E}">
        <p14:creationId xmlns:p14="http://schemas.microsoft.com/office/powerpoint/2010/main" val="24974973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1FC762-A040-7822-38DC-21F24CB454B0}"/>
              </a:ext>
            </a:extLst>
          </p:cNvPr>
          <p:cNvSpPr>
            <a:spLocks noGrp="1"/>
          </p:cNvSpPr>
          <p:nvPr>
            <p:ph type="title"/>
          </p:nvPr>
        </p:nvSpPr>
        <p:spPr/>
        <p:txBody>
          <a:bodyPr/>
          <a:lstStyle/>
          <a:p>
            <a:r>
              <a:rPr lang="en-US">
                <a:solidFill>
                  <a:srgbClr val="FFFF00"/>
                </a:solidFill>
              </a:rPr>
              <a:t>ALGORITHM</a:t>
            </a:r>
          </a:p>
        </p:txBody>
      </p:sp>
      <p:sp>
        <p:nvSpPr>
          <p:cNvPr id="3" name="Content Placeholder 2">
            <a:extLst>
              <a:ext uri="{FF2B5EF4-FFF2-40B4-BE49-F238E27FC236}">
                <a16:creationId xmlns:a16="http://schemas.microsoft.com/office/drawing/2014/main" id="{A9B2FE17-B41D-4EFC-8649-B2D603F6A16A}"/>
              </a:ext>
            </a:extLst>
          </p:cNvPr>
          <p:cNvSpPr>
            <a:spLocks noGrp="1"/>
          </p:cNvSpPr>
          <p:nvPr>
            <p:ph idx="1"/>
          </p:nvPr>
        </p:nvSpPr>
        <p:spPr>
          <a:xfrm>
            <a:off x="838200" y="1317625"/>
            <a:ext cx="10515600" cy="5415718"/>
          </a:xfrm>
          <a:ln>
            <a:solidFill>
              <a:schemeClr val="tx1">
                <a:lumMod val="85000"/>
              </a:schemeClr>
            </a:solidFill>
          </a:ln>
        </p:spPr>
        <p:txBody>
          <a:bodyPr vert="horz" lIns="91440" tIns="45720" rIns="91440" bIns="45720" rtlCol="0" anchor="t">
            <a:normAutofit fontScale="55000" lnSpcReduction="20000"/>
          </a:bodyPr>
          <a:lstStyle/>
          <a:p>
            <a:pPr marL="457200" indent="-457200"/>
            <a:r>
              <a:rPr lang="en-US">
                <a:ea typeface="+mn-lt"/>
                <a:cs typeface="+mn-lt"/>
              </a:rPr>
              <a:t> STEP 01 : START</a:t>
            </a:r>
            <a:endParaRPr lang="en-US" dirty="0"/>
          </a:p>
          <a:p>
            <a:r>
              <a:rPr lang="en-US">
                <a:ea typeface="+mn-lt"/>
                <a:cs typeface="+mn-lt"/>
              </a:rPr>
              <a:t>        STEP 02 : SET attempts = 0</a:t>
            </a:r>
            <a:endParaRPr lang="en-US"/>
          </a:p>
          <a:p>
            <a:r>
              <a:rPr lang="en-US">
                <a:ea typeface="+mn-lt"/>
                <a:cs typeface="+mn-lt"/>
              </a:rPr>
              <a:t>        STEP 03 : Store original password, original ID</a:t>
            </a:r>
            <a:endParaRPr lang="en-US"/>
          </a:p>
          <a:p>
            <a:r>
              <a:rPr lang="en-US">
                <a:ea typeface="+mn-lt"/>
                <a:cs typeface="+mn-lt"/>
              </a:rPr>
              <a:t>        STEP 04 : READ Password, ID</a:t>
            </a:r>
            <a:endParaRPr lang="en-US"/>
          </a:p>
          <a:p>
            <a:r>
              <a:rPr lang="en-US">
                <a:ea typeface="+mn-lt"/>
                <a:cs typeface="+mn-lt"/>
              </a:rPr>
              <a:t>         STEP 05 : DECLARE choice, Search ID</a:t>
            </a:r>
            <a:endParaRPr lang="en-US"/>
          </a:p>
          <a:p>
            <a:r>
              <a:rPr lang="en-US">
                <a:ea typeface="+mn-lt"/>
                <a:cs typeface="+mn-lt"/>
              </a:rPr>
              <a:t>         STEP 06 : IF(password, ID is correct), Login successful</a:t>
            </a:r>
            <a:endParaRPr lang="en-US"/>
          </a:p>
          <a:p>
            <a:r>
              <a:rPr lang="en-US">
                <a:ea typeface="+mn-lt"/>
                <a:cs typeface="+mn-lt"/>
              </a:rPr>
              <a:t>                            ELSE, only 3 attempts</a:t>
            </a:r>
            <a:endParaRPr lang="en-US"/>
          </a:p>
          <a:p>
            <a:r>
              <a:rPr lang="en-US">
                <a:ea typeface="+mn-lt"/>
                <a:cs typeface="+mn-lt"/>
              </a:rPr>
              <a:t>        STEP 07 : DISPLAY menu list</a:t>
            </a:r>
            <a:endParaRPr lang="en-US"/>
          </a:p>
          <a:p>
            <a:r>
              <a:rPr lang="en-US" dirty="0">
                <a:ea typeface="+mn-lt"/>
                <a:cs typeface="+mn-lt"/>
              </a:rPr>
              <a:t>        STEP 08 : SELECT a valid option</a:t>
            </a:r>
            <a:endParaRPr lang="en-US" dirty="0"/>
          </a:p>
          <a:p>
            <a:r>
              <a:rPr lang="en-US">
                <a:ea typeface="+mn-lt"/>
                <a:cs typeface="+mn-lt"/>
              </a:rPr>
              <a:t>        STEP 09 : CREATE individual functions and call through switch case</a:t>
            </a:r>
            <a:endParaRPr lang="en-US"/>
          </a:p>
          <a:p>
            <a:r>
              <a:rPr lang="en-US">
                <a:ea typeface="+mn-lt"/>
                <a:cs typeface="+mn-lt"/>
              </a:rPr>
              <a:t>        STEP 10 : IF(option is view), File with students list opens</a:t>
            </a:r>
            <a:endParaRPr lang="en-US"/>
          </a:p>
          <a:p>
            <a:r>
              <a:rPr lang="en-US" dirty="0">
                <a:ea typeface="+mn-lt"/>
                <a:cs typeface="+mn-lt"/>
              </a:rPr>
              <a:t>        STEP 11 : SEARCH by Year, Branch, Section and view</a:t>
            </a:r>
            <a:endParaRPr lang="en-US" dirty="0"/>
          </a:p>
          <a:p>
            <a:r>
              <a:rPr lang="en-US">
                <a:ea typeface="+mn-lt"/>
                <a:cs typeface="+mn-lt"/>
              </a:rPr>
              <a:t>        STEP 12 : IF(option is add),</a:t>
            </a:r>
            <a:endParaRPr lang="en-US"/>
          </a:p>
          <a:p>
            <a:r>
              <a:rPr lang="en-US" dirty="0">
                <a:ea typeface="+mn-lt"/>
                <a:cs typeface="+mn-lt"/>
              </a:rPr>
              <a:t>        STEP 13 : CREATE a file (based on student year, branch and section)</a:t>
            </a:r>
            <a:endParaRPr lang="en-US" dirty="0"/>
          </a:p>
          <a:p>
            <a:r>
              <a:rPr lang="en-US" dirty="0">
                <a:ea typeface="+mn-lt"/>
                <a:cs typeface="+mn-lt"/>
              </a:rPr>
              <a:t>       STEP 14 : IF(option is delete)</a:t>
            </a:r>
            <a:endParaRPr lang="en-US" dirty="0"/>
          </a:p>
          <a:p>
            <a:r>
              <a:rPr lang="en-US">
                <a:ea typeface="+mn-lt"/>
                <a:cs typeface="+mn-lt"/>
              </a:rPr>
              <a:t>       STEP 15 : SEARCH through ID, then delete</a:t>
            </a:r>
            <a:endParaRPr lang="en-US"/>
          </a:p>
          <a:p>
            <a:r>
              <a:rPr lang="en-US" dirty="0">
                <a:ea typeface="+mn-lt"/>
                <a:cs typeface="+mn-lt"/>
              </a:rPr>
              <a:t>       STEP 16 : EXIT(0) (last option)</a:t>
            </a:r>
            <a:endParaRPr lang="en-US" dirty="0"/>
          </a:p>
          <a:p>
            <a:r>
              <a:rPr lang="en-US">
                <a:ea typeface="+mn-lt"/>
                <a:cs typeface="+mn-lt"/>
              </a:rPr>
              <a:t>        STEP 17 : STOP     </a:t>
            </a:r>
            <a:endParaRPr lang="en-US"/>
          </a:p>
          <a:p>
            <a:endParaRPr lang="en-US"/>
          </a:p>
          <a:p>
            <a:endParaRPr lang="en-US" dirty="0"/>
          </a:p>
        </p:txBody>
      </p:sp>
    </p:spTree>
    <p:extLst>
      <p:ext uri="{BB962C8B-B14F-4D97-AF65-F5344CB8AC3E}">
        <p14:creationId xmlns:p14="http://schemas.microsoft.com/office/powerpoint/2010/main" val="6665813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17158E-8617-D12A-F2DA-C365D2D6413B}"/>
              </a:ext>
            </a:extLst>
          </p:cNvPr>
          <p:cNvSpPr>
            <a:spLocks noGrp="1"/>
          </p:cNvSpPr>
          <p:nvPr>
            <p:ph type="title"/>
          </p:nvPr>
        </p:nvSpPr>
        <p:spPr>
          <a:xfrm>
            <a:off x="180445" y="6726"/>
            <a:ext cx="10515600" cy="1325563"/>
          </a:xfrm>
        </p:spPr>
        <p:txBody>
          <a:bodyPr/>
          <a:lstStyle/>
          <a:p>
            <a:r>
              <a:rPr lang="en-US">
                <a:solidFill>
                  <a:srgbClr val="FFFF00"/>
                </a:solidFill>
              </a:rPr>
              <a:t>FLOW CHART</a:t>
            </a:r>
            <a:br>
              <a:rPr lang="en-US" dirty="0"/>
            </a:br>
            <a:endParaRPr lang="en-US" dirty="0"/>
          </a:p>
        </p:txBody>
      </p:sp>
      <p:pic>
        <p:nvPicPr>
          <p:cNvPr id="7" name="Content Placeholder 6" descr="A diagram of a process flow&#10;&#10;AI-generated content may be incorrect.">
            <a:extLst>
              <a:ext uri="{FF2B5EF4-FFF2-40B4-BE49-F238E27FC236}">
                <a16:creationId xmlns:a16="http://schemas.microsoft.com/office/drawing/2014/main" id="{54DD26BF-6D5A-5E0B-CAE4-89C775ECD97D}"/>
              </a:ext>
            </a:extLst>
          </p:cNvPr>
          <p:cNvPicPr>
            <a:picLocks noGrp="1" noChangeAspect="1"/>
          </p:cNvPicPr>
          <p:nvPr>
            <p:ph idx="1"/>
          </p:nvPr>
        </p:nvPicPr>
        <p:blipFill>
          <a:blip r:embed="rId2"/>
          <a:stretch>
            <a:fillRect/>
          </a:stretch>
        </p:blipFill>
        <p:spPr>
          <a:xfrm>
            <a:off x="179614" y="678431"/>
            <a:ext cx="10975521" cy="6019798"/>
          </a:xfrm>
          <a:prstGeom prst="rect">
            <a:avLst/>
          </a:prstGeom>
        </p:spPr>
      </p:pic>
    </p:spTree>
    <p:extLst>
      <p:ext uri="{BB962C8B-B14F-4D97-AF65-F5344CB8AC3E}">
        <p14:creationId xmlns:p14="http://schemas.microsoft.com/office/powerpoint/2010/main" val="12003352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C2684-0FEF-0972-B371-0424E172E8A0}"/>
              </a:ext>
            </a:extLst>
          </p:cNvPr>
          <p:cNvSpPr>
            <a:spLocks noGrp="1"/>
          </p:cNvSpPr>
          <p:nvPr>
            <p:ph type="title"/>
          </p:nvPr>
        </p:nvSpPr>
        <p:spPr/>
        <p:txBody>
          <a:bodyPr/>
          <a:lstStyle/>
          <a:p>
            <a:r>
              <a:rPr lang="en-US">
                <a:solidFill>
                  <a:srgbClr val="FFFF00"/>
                </a:solidFill>
              </a:rPr>
              <a:t>METHODOLOGY</a:t>
            </a:r>
            <a:br>
              <a:rPr lang="en-US" dirty="0"/>
            </a:br>
            <a:endParaRPr lang="en-US" dirty="0"/>
          </a:p>
        </p:txBody>
      </p:sp>
      <p:sp>
        <p:nvSpPr>
          <p:cNvPr id="3" name="Content Placeholder 2">
            <a:extLst>
              <a:ext uri="{FF2B5EF4-FFF2-40B4-BE49-F238E27FC236}">
                <a16:creationId xmlns:a16="http://schemas.microsoft.com/office/drawing/2014/main" id="{04A3731C-1D17-9FF7-25D8-238FE59AE3D1}"/>
              </a:ext>
            </a:extLst>
          </p:cNvPr>
          <p:cNvSpPr>
            <a:spLocks noGrp="1"/>
          </p:cNvSpPr>
          <p:nvPr>
            <p:ph idx="1"/>
          </p:nvPr>
        </p:nvSpPr>
        <p:spPr>
          <a:xfrm>
            <a:off x="293915" y="1027341"/>
            <a:ext cx="11059885" cy="5452002"/>
          </a:xfrm>
          <a:ln>
            <a:solidFill>
              <a:schemeClr val="accent2">
                <a:lumMod val="20000"/>
                <a:lumOff val="80000"/>
              </a:schemeClr>
            </a:solidFill>
          </a:ln>
        </p:spPr>
        <p:txBody>
          <a:bodyPr vert="horz" lIns="91440" tIns="45720" rIns="91440" bIns="45720" rtlCol="0" anchor="t">
            <a:normAutofit fontScale="62500" lnSpcReduction="20000"/>
          </a:bodyPr>
          <a:lstStyle/>
          <a:p>
            <a:r>
              <a:rPr lang="en-US" dirty="0">
                <a:ea typeface="+mn-lt"/>
                <a:cs typeface="+mn-lt"/>
              </a:rPr>
              <a:t>The methodology of the STUDENT_INFO-HUB project is designed to manage student information systematically using file handling and menu-driven operations. The working process of the system is explained below:</a:t>
            </a:r>
            <a:endParaRPr lang="en-US" dirty="0"/>
          </a:p>
          <a:p>
            <a:r>
              <a:rPr lang="en-US">
                <a:ea typeface="+mn-lt"/>
                <a:cs typeface="+mn-lt"/>
              </a:rPr>
              <a:t>The system starts by initializing the login attempt counter and storing the original ID and password.</a:t>
            </a:r>
            <a:endParaRPr lang="en-US"/>
          </a:p>
          <a:p>
            <a:r>
              <a:rPr lang="en-US">
                <a:ea typeface="+mn-lt"/>
                <a:cs typeface="+mn-lt"/>
              </a:rPr>
              <a:t>The user is asked to enter the login credentials. The entered ID and password are verified with the stored credentials.</a:t>
            </a:r>
            <a:endParaRPr lang="en-US"/>
          </a:p>
          <a:p>
            <a:r>
              <a:rPr lang="en-US" dirty="0">
                <a:ea typeface="+mn-lt"/>
                <a:cs typeface="+mn-lt"/>
              </a:rPr>
              <a:t>If the credentials are incorrect, the user is allowed a maximum of three attempts. If all attempts fail, the system terminates the login process.</a:t>
            </a:r>
            <a:endParaRPr lang="en-US" dirty="0"/>
          </a:p>
          <a:p>
            <a:r>
              <a:rPr lang="en-US" dirty="0">
                <a:ea typeface="+mn-lt"/>
                <a:cs typeface="+mn-lt"/>
              </a:rPr>
              <a:t>After successful authentication, the main menu is displayed with different options such as View, Add, Delete, and Exit.</a:t>
            </a:r>
            <a:endParaRPr lang="en-US" dirty="0"/>
          </a:p>
          <a:p>
            <a:r>
              <a:rPr lang="en-US" dirty="0">
                <a:ea typeface="+mn-lt"/>
                <a:cs typeface="+mn-lt"/>
              </a:rPr>
              <a:t>The selected option is processed using separate functions through a switch-case structure for better organization and modular programming.</a:t>
            </a:r>
            <a:endParaRPr lang="en-US" dirty="0"/>
          </a:p>
          <a:p>
            <a:r>
              <a:rPr lang="en-US" dirty="0">
                <a:ea typeface="+mn-lt"/>
                <a:cs typeface="+mn-lt"/>
              </a:rPr>
              <a:t>In the View operation, the system opens the student records file, displays the students list through branch, section and year.</a:t>
            </a:r>
            <a:endParaRPr lang="en-US" dirty="0"/>
          </a:p>
          <a:p>
            <a:r>
              <a:rPr lang="en-US">
                <a:ea typeface="+mn-lt"/>
                <a:cs typeface="+mn-lt"/>
              </a:rPr>
              <a:t>In the Add operation, a new file or record is created based on the student’s year, branch, and section, and the entered data is stored permanently.</a:t>
            </a:r>
            <a:endParaRPr lang="en-US"/>
          </a:p>
          <a:p>
            <a:r>
              <a:rPr lang="en-US">
                <a:ea typeface="+mn-lt"/>
                <a:cs typeface="+mn-lt"/>
              </a:rPr>
              <a:t>In the Delete operation, the system searches the student record using Student ID and removes the corresponding data from the file.</a:t>
            </a:r>
            <a:endParaRPr lang="en-US"/>
          </a:p>
          <a:p>
            <a:r>
              <a:rPr lang="en-US" dirty="0">
                <a:ea typeface="+mn-lt"/>
                <a:cs typeface="+mn-lt"/>
              </a:rPr>
              <a:t>The Exit option terminates the program safely using the exit function.</a:t>
            </a:r>
            <a:endParaRPr lang="en-US" dirty="0"/>
          </a:p>
          <a:p>
            <a:r>
              <a:rPr lang="en-US">
                <a:ea typeface="+mn-lt"/>
                <a:cs typeface="+mn-lt"/>
              </a:rPr>
              <a:t>The entire system is implemented to ensure efficient student record management, easy data retrieval, reduced manual work, and secure access control.</a:t>
            </a:r>
            <a:endParaRPr lang="en-US"/>
          </a:p>
        </p:txBody>
      </p:sp>
    </p:spTree>
    <p:extLst>
      <p:ext uri="{BB962C8B-B14F-4D97-AF65-F5344CB8AC3E}">
        <p14:creationId xmlns:p14="http://schemas.microsoft.com/office/powerpoint/2010/main" val="1154017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9B25AA-1A8A-B221-4925-739C65B9EA4E}"/>
              </a:ext>
            </a:extLst>
          </p:cNvPr>
          <p:cNvSpPr>
            <a:spLocks noGrp="1"/>
          </p:cNvSpPr>
          <p:nvPr>
            <p:ph type="title"/>
          </p:nvPr>
        </p:nvSpPr>
        <p:spPr/>
        <p:txBody>
          <a:bodyPr/>
          <a:lstStyle/>
          <a:p>
            <a:r>
              <a:rPr lang="en-US">
                <a:solidFill>
                  <a:srgbClr val="FFFF00"/>
                </a:solidFill>
              </a:rPr>
              <a:t>RESULT SCREEN SHOTS</a:t>
            </a:r>
            <a:br>
              <a:rPr lang="en-US" dirty="0"/>
            </a:br>
            <a:endParaRPr lang="en-US" dirty="0"/>
          </a:p>
        </p:txBody>
      </p:sp>
      <p:sp>
        <p:nvSpPr>
          <p:cNvPr id="3" name="Content Placeholder 2">
            <a:extLst>
              <a:ext uri="{FF2B5EF4-FFF2-40B4-BE49-F238E27FC236}">
                <a16:creationId xmlns:a16="http://schemas.microsoft.com/office/drawing/2014/main" id="{7F8ABF2D-FBC3-024B-7492-9A775F393598}"/>
              </a:ext>
            </a:extLst>
          </p:cNvPr>
          <p:cNvSpPr>
            <a:spLocks noGrp="1"/>
          </p:cNvSpPr>
          <p:nvPr>
            <p:ph idx="1"/>
          </p:nvPr>
        </p:nvSpPr>
        <p:spPr>
          <a:xfrm>
            <a:off x="838200" y="1554405"/>
            <a:ext cx="10515600" cy="4622558"/>
          </a:xfrm>
        </p:spPr>
        <p:txBody>
          <a:bodyPr vert="horz" lIns="91440" tIns="45720" rIns="91440" bIns="45720" rtlCol="0" anchor="t">
            <a:normAutofit/>
          </a:bodyPr>
          <a:lstStyle/>
          <a:p>
            <a:endParaRPr lang="en-US" dirty="0"/>
          </a:p>
          <a:p>
            <a:endParaRPr lang="en-US" dirty="0"/>
          </a:p>
        </p:txBody>
      </p:sp>
    </p:spTree>
    <p:extLst>
      <p:ext uri="{BB962C8B-B14F-4D97-AF65-F5344CB8AC3E}">
        <p14:creationId xmlns:p14="http://schemas.microsoft.com/office/powerpoint/2010/main" val="29980752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DC22D-0770-C719-D7C0-7D861D95D8B1}"/>
              </a:ext>
            </a:extLst>
          </p:cNvPr>
          <p:cNvSpPr>
            <a:spLocks noGrp="1"/>
          </p:cNvSpPr>
          <p:nvPr>
            <p:ph type="title"/>
          </p:nvPr>
        </p:nvSpPr>
        <p:spPr/>
        <p:txBody>
          <a:bodyPr/>
          <a:lstStyle/>
          <a:p>
            <a:r>
              <a:rPr lang="en-US">
                <a:solidFill>
                  <a:srgbClr val="FFFF00"/>
                </a:solidFill>
              </a:rPr>
              <a:t>CONCLUSION</a:t>
            </a:r>
            <a:br>
              <a:rPr lang="en-US" dirty="0">
                <a:solidFill>
                  <a:srgbClr val="FFFF00"/>
                </a:solidFill>
              </a:rPr>
            </a:br>
            <a:endParaRPr lang="en-US" dirty="0">
              <a:solidFill>
                <a:srgbClr val="FFFF00"/>
              </a:solidFill>
            </a:endParaRPr>
          </a:p>
        </p:txBody>
      </p:sp>
      <p:sp>
        <p:nvSpPr>
          <p:cNvPr id="3" name="Content Placeholder 2">
            <a:extLst>
              <a:ext uri="{FF2B5EF4-FFF2-40B4-BE49-F238E27FC236}">
                <a16:creationId xmlns:a16="http://schemas.microsoft.com/office/drawing/2014/main" id="{B30B2848-FE38-F52B-2093-9EFFAA60D49D}"/>
              </a:ext>
            </a:extLst>
          </p:cNvPr>
          <p:cNvSpPr>
            <a:spLocks noGrp="1"/>
          </p:cNvSpPr>
          <p:nvPr>
            <p:ph idx="1"/>
          </p:nvPr>
        </p:nvSpPr>
        <p:spPr>
          <a:ln>
            <a:solidFill>
              <a:schemeClr val="accent5">
                <a:lumMod val="40000"/>
                <a:lumOff val="60000"/>
              </a:schemeClr>
            </a:solidFill>
          </a:ln>
        </p:spPr>
        <p:txBody>
          <a:bodyPr vert="horz" lIns="91440" tIns="45720" rIns="91440" bIns="45720" rtlCol="0" anchor="t">
            <a:normAutofit lnSpcReduction="10000"/>
          </a:bodyPr>
          <a:lstStyle/>
          <a:p>
            <a:r>
              <a:rPr lang="en-US">
                <a:ea typeface="+mn-lt"/>
                <a:cs typeface="+mn-lt"/>
              </a:rPr>
              <a:t>Here by, we want to conclude that STUDENT_INFO-HUB is a student management system which can store student details more accurately by using file handling.</a:t>
            </a:r>
            <a:endParaRPr lang="en-US"/>
          </a:p>
          <a:p>
            <a:r>
              <a:rPr lang="en-US" dirty="0">
                <a:ea typeface="+mn-lt"/>
                <a:cs typeface="+mn-lt"/>
              </a:rPr>
              <a:t>Only admin can access this system and can make modifications with ID and Password login access. Hence the data is secure at admin so that no one other can open and see the student details without admin's ID and Password. Every major detail of student is </a:t>
            </a:r>
            <a:r>
              <a:rPr lang="en-US" dirty="0" err="1">
                <a:ea typeface="+mn-lt"/>
                <a:cs typeface="+mn-lt"/>
              </a:rPr>
              <a:t>included</a:t>
            </a:r>
            <a:r>
              <a:rPr lang="en-US" dirty="0">
                <a:ea typeface="+mn-lt"/>
                <a:cs typeface="+mn-lt"/>
              </a:rPr>
              <a:t> and this system can be an error free one. Even if admin make a mistake, still he/she can be asked to enter the detail again. In this way we want to conclude that this system is well accurate and well capable.</a:t>
            </a:r>
            <a:endParaRPr lang="en-US" dirty="0"/>
          </a:p>
        </p:txBody>
      </p:sp>
    </p:spTree>
    <p:extLst>
      <p:ext uri="{BB962C8B-B14F-4D97-AF65-F5344CB8AC3E}">
        <p14:creationId xmlns:p14="http://schemas.microsoft.com/office/powerpoint/2010/main" val="30827824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7E4785-E77E-8842-F854-D9680718047B}"/>
              </a:ext>
            </a:extLst>
          </p:cNvPr>
          <p:cNvSpPr>
            <a:spLocks noGrp="1"/>
          </p:cNvSpPr>
          <p:nvPr>
            <p:ph type="title"/>
          </p:nvPr>
        </p:nvSpPr>
        <p:spPr>
          <a:xfrm>
            <a:off x="1152676" y="2493887"/>
            <a:ext cx="10515600" cy="1325563"/>
          </a:xfrm>
        </p:spPr>
        <p:txBody>
          <a:bodyPr/>
          <a:lstStyle/>
          <a:p>
            <a:r>
              <a:rPr lang="en-US">
                <a:solidFill>
                  <a:schemeClr val="accent4">
                    <a:lumMod val="60000"/>
                    <a:lumOff val="40000"/>
                  </a:schemeClr>
                </a:solidFill>
              </a:rPr>
              <a:t>THANK YOU </a:t>
            </a:r>
          </a:p>
        </p:txBody>
      </p:sp>
      <p:sp>
        <p:nvSpPr>
          <p:cNvPr id="3" name="Content Placeholder 2">
            <a:extLst>
              <a:ext uri="{FF2B5EF4-FFF2-40B4-BE49-F238E27FC236}">
                <a16:creationId xmlns:a16="http://schemas.microsoft.com/office/drawing/2014/main" id="{503AF164-F9AA-692B-BCDC-673E812106B5}"/>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50253928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538D9D"/>
      </a:hlink>
      <a:folHlink>
        <a:srgbClr val="A5738E"/>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3A418E6B-C5F0-4B95-8D77-61E3EF3B5DF5}"/>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9</Slides>
  <Notes>0</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Office Theme</vt:lpstr>
      <vt:lpstr>STUDENT_INFO-HUB</vt:lpstr>
      <vt:lpstr>ABSTRACT</vt:lpstr>
      <vt:lpstr>INTRO </vt:lpstr>
      <vt:lpstr>ALGORITHM</vt:lpstr>
      <vt:lpstr>FLOW CHART </vt:lpstr>
      <vt:lpstr>METHODOLOGY </vt:lpstr>
      <vt:lpstr>RESULT SCREEN SHOTS </vt:lpstr>
      <vt:lpstr>CONCLUSION </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114</cp:revision>
  <dcterms:created xsi:type="dcterms:W3CDTF">2026-05-10T01:44:05Z</dcterms:created>
  <dcterms:modified xsi:type="dcterms:W3CDTF">2026-05-10T02:09:05Z</dcterms:modified>
</cp:coreProperties>
</file>